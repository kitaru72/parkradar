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66928"/>
            <a:ext cx="1828800" cy="411480"/>
          </a:xfrm>
          <a:prstGeom prst="roundRect">
            <a:avLst/>
          </a:prstGeom>
          <a:solidFill>
            <a:srgbClr val="0B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5836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Хакатон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852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3B36"/>
                </a:solidFill>
              </a:defRPr>
            </a:pPr>
            <a:r>
              <a:t>ParkRadar</a:t>
            </a:r>
          </a:p>
          <a:p>
            <a:pPr>
              <a:defRPr sz="2400">
                <a:solidFill>
                  <a:srgbClr val="192126"/>
                </a:solidFill>
              </a:defRPr>
            </a:pPr>
            <a:r>
              <a:t>Понимаем парковку до того, как вы приедете</a:t>
            </a:r>
          </a:p>
          <a:p>
            <a:pPr>
              <a:defRPr sz="1600">
                <a:solidFill>
                  <a:srgbClr val="5E6A73"/>
                </a:solidFill>
              </a:defRPr>
            </a:pPr>
            <a:r>
              <a:t>Сервис оценки свободных парковочных мест по адресу на основе публичных камер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3749039" cy="438912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362456"/>
            <a:ext cx="3419855" cy="4133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Что показываем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рабочий пользовательский интерфейс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admin UI и test-mode ingestion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trip monitoring и scheduler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строгое соответствие ТЗ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Парковка во дворе остается слепой зоной для жителя и управляющей стороны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314553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Житель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тратит время на круги по двору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испытывает ежедневный стресс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понимает, есть ли смысл ехать к точке сейчас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73936"/>
            <a:ext cx="314553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УК / оператор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видит жалобы, но не видит цифры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понимает реальную загрузку зон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имеет data-driven основы для решений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0B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773936"/>
            <a:ext cx="305409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Рынок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новое железо стоит дорого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внедрение занимает время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датчики не решают задачу быстрого поиска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Мы превращаем уже существующие публичные камеры в сервис понятного ответа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126"/>
                </a:solidFill>
              </a:defRPr>
            </a:pPr>
            <a:r>
              <a:t>Пользователь вводит адрес</a:t>
            </a:r>
          </a:p>
          <a:p>
            <a:pPr>
              <a:defRPr sz="1800" b="0">
                <a:solidFill>
                  <a:srgbClr val="5E6A73"/>
                </a:solidFill>
              </a:defRPr>
            </a:pPr>
            <a:r>
              <a:t>Система находит камеры в радиусе до 1 км</a:t>
            </a:r>
          </a:p>
          <a:p>
            <a:pPr>
              <a:defRPr sz="1800" b="0">
                <a:solidFill>
                  <a:srgbClr val="5E6A73"/>
                </a:solidFill>
              </a:defRPr>
            </a:pPr>
            <a:r>
              <a:t>Считает агрегированную доступность</a:t>
            </a:r>
          </a:p>
          <a:p>
            <a:pPr>
              <a:defRPr sz="1800" b="0">
                <a:solidFill>
                  <a:srgbClr val="5E6A73"/>
                </a:solidFill>
              </a:defRPr>
            </a:pPr>
            <a:r>
              <a:t>Показывает свободные места по классам машин</a:t>
            </a:r>
          </a:p>
          <a:p>
            <a:pPr>
              <a:defRPr sz="1800" b="0">
                <a:solidFill>
                  <a:srgbClr val="5E6A73"/>
                </a:solidFill>
              </a:defRPr>
            </a:pPr>
            <a:r>
              <a:t>Запускает trip monitoring на время поездки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663440" cy="283464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19656"/>
            <a:ext cx="4334256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Ключевой продуктовый принцип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показываем видеопоток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заставляем пользователя анализировать камеры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даем простой ответ для принятия решения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1417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901184"/>
            <a:ext cx="10881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1 км</a:t>
            </a:r>
          </a:p>
          <a:p>
            <a:pPr>
              <a:defRPr sz="1100">
                <a:solidFill>
                  <a:srgbClr val="5E6A73"/>
                </a:solidFill>
              </a:defRPr>
            </a:pPr>
            <a:r>
              <a:t>радиус поиска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754880"/>
            <a:ext cx="1417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4901184"/>
            <a:ext cx="10881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PWA</a:t>
            </a:r>
          </a:p>
          <a:p>
            <a:pPr>
              <a:defRPr sz="1100">
                <a:solidFill>
                  <a:srgbClr val="5E6A73"/>
                </a:solidFill>
              </a:defRPr>
            </a:pPr>
            <a:r>
              <a:t>web + Android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754880"/>
            <a:ext cx="14173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4901184"/>
            <a:ext cx="10881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MVP</a:t>
            </a:r>
          </a:p>
          <a:p>
            <a:pPr>
              <a:defRPr sz="1100">
                <a:solidFill>
                  <a:srgbClr val="5E6A73"/>
                </a:solidFill>
              </a:defRPr>
            </a:pPr>
            <a:r>
              <a:t>строго по ТЗ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Что входит в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Реализованный контур соответствует границам ТЗ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4700016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User flow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поиск по адресу или ссылке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агрегированный ответ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классы машин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источники 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73936"/>
            <a:ext cx="4700016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Trip monitoring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создание trip_session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half ETA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pre-arrival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fallback +15m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02920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31336"/>
            <a:ext cx="4700016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Admin UI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login по email/password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реестр камер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статистика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ручное добавление камеры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03320"/>
            <a:ext cx="5029200" cy="173736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831336"/>
            <a:ext cx="4700016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Test ingestion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POST /test/screenshots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POST /test/batch-screenshots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ручной ввод free_*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Demo-first архитектура, которая честно масштабируется в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4825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User PWA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204825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Backend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2024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04825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02336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415137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Scheduler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5137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Admin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23360"/>
            <a:ext cx="201168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4151376"/>
            <a:ext cx="1682496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Push / Pull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514600"/>
            <a:ext cx="1280160" cy="0"/>
          </a:xfrm>
          <a:prstGeom prst="line">
            <a:avLst/>
          </a:prstGeom>
          <a:ln w="25400">
            <a:solidFill>
              <a:srgbClr val="0B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6480" y="2514600"/>
            <a:ext cx="1188720" cy="0"/>
          </a:xfrm>
          <a:prstGeom prst="line">
            <a:avLst/>
          </a:prstGeom>
          <a:ln w="25400">
            <a:solidFill>
              <a:srgbClr val="0B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4572000"/>
            <a:ext cx="1463040" cy="0"/>
          </a:xfrm>
          <a:prstGeom prst="line">
            <a:avLst/>
          </a:prstGeom>
          <a:ln w="25400">
            <a:solidFill>
              <a:srgbClr val="0B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26480" y="4572000"/>
            <a:ext cx="1188720" cy="0"/>
          </a:xfrm>
          <a:prstGeom prst="line">
            <a:avLst/>
          </a:prstGeom>
          <a:ln w="25400">
            <a:solidFill>
              <a:srgbClr val="0B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3108960"/>
            <a:ext cx="0" cy="914400"/>
          </a:xfrm>
          <a:prstGeom prst="line">
            <a:avLst/>
          </a:prstGeom>
          <a:ln w="25400">
            <a:solidFill>
              <a:srgbClr val="0B3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Демо-сценарий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Как за 5-7 минут показать полный ценностный поток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347472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2231136" cy="3218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1. Пользователь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вводит адрес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получает availability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запускает trip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47472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773936"/>
            <a:ext cx="2231136" cy="3218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2. Админ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логинится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обновляет snapshot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запускает due-check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347472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73936"/>
            <a:ext cx="2231136" cy="3218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3. Система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пересчитывает availability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создает уведомление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обновляет trip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1920240" cy="3474720"/>
          </a:xfrm>
          <a:prstGeom prst="roundRect">
            <a:avLst/>
          </a:prstGeom>
          <a:solidFill>
            <a:srgbClr val="FFFAF0"/>
          </a:solidFill>
          <a:ln>
            <a:solidFill>
              <a:srgbClr val="0B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773936"/>
            <a:ext cx="1591056" cy="3218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4. Финал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пользователь видит изменение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жюри видит end-to-end продукт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Почему это сильное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Не просто CV-демо, а продуктовый контур с реальным пользовательским сценарием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305409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Польза людям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меньше времени на поиск парковки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меньше стресса и конфликтов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больше предсказуемости поездки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73936"/>
            <a:ext cx="305409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Польза операторам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картина загрузки зон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статистика запросов и hot spots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основа для решений без нового железа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AF0"/>
          </a:solidFill>
          <a:ln>
            <a:solidFill>
              <a:srgbClr val="0B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773936"/>
            <a:ext cx="3054096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Польза для внедрения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быстрый MVP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честный путь к pilot production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модульная архитектура для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Риски и честные 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Мы не скрываем ограничения и сразу показываем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46304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4700016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Нестабильные камеры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status камеры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degradation на доступный subset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кэш валидных 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5486400" cy="146304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992" y="1773936"/>
            <a:ext cx="5157216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Точность в сложных условиях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в MVP test mode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следующий шаг: production CV/ML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дообучение под конкретный двор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146304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4700016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Юридическая рамка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используем только разрешенные публичные источники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не показываем первичные кадры пользователю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383280"/>
            <a:ext cx="5486400" cy="1463040"/>
          </a:xfrm>
          <a:prstGeom prst="roundRect">
            <a:avLst/>
          </a:prstGeom>
          <a:solidFill>
            <a:srgbClr val="FFFAF0"/>
          </a:solidFill>
          <a:ln>
            <a:solidFill>
              <a:srgbClr val="0B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3511296"/>
            <a:ext cx="5157216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Надежность поездки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trip monitoring снижает ложные ожидания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push architecture + pull 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От hackathon MVP к pilot production и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305409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Этап 1. Сейчас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test-mode ingestion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user PWA и admin UI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trip monitoring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встроенный scheduler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73936"/>
            <a:ext cx="305409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Этап 2. Pilot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реальные потоки камер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точный CV/ML pipeline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ETA от картографического API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production push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FFFAF0"/>
          </a:solidFill>
          <a:ln>
            <a:solidFill>
              <a:srgbClr val="0B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773936"/>
            <a:ext cx="305409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126"/>
                </a:solidFill>
              </a:defRPr>
            </a:pPr>
            <a:r>
              <a:t>Этап 3. Scale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worker для scheduler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очереди задач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Postgres и аналитика</a:t>
            </a:r>
          </a:p>
          <a:p>
            <a:pPr>
              <a:defRPr sz="1200">
                <a:solidFill>
                  <a:srgbClr val="5E6A73"/>
                </a:solidFill>
              </a:defRPr>
            </a:pPr>
            <a:r>
              <a:t>SLA / SLO / алерты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365760"/>
            <a:ext cx="2377440" cy="23774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8288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3B36"/>
                </a:solidFill>
              </a:defRPr>
            </a:pPr>
            <a:r>
              <a:t>Финал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3"/>
                </a:solidFill>
              </a:defRPr>
            </a:pPr>
            <a:r>
              <a:t>ParkRadar делает парковку предсказуемой, а не хаотичной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B3B36"/>
                </a:solidFill>
              </a:defRPr>
            </a:pPr>
            <a:r>
              <a:t>Мы берем уже существующую визуальную инфраструктуру</a:t>
            </a:r>
            <a:br/>
            <a:r>
              <a:t>и превращаем ее в сервис принятия решения для человека.</a:t>
            </a:r>
          </a:p>
          <a:p>
            <a:pPr algn="ctr">
              <a:defRPr sz="1800">
                <a:solidFill>
                  <a:srgbClr val="5E6A73"/>
                </a:solidFill>
              </a:defRPr>
            </a:pPr>
            <a:r>
              <a:t>Спасибо. Готовы показать живое демо.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